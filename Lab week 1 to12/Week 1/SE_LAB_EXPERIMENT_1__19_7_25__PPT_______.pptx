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1"/>
  </p:notesMasterIdLst>
  <p:sldIdLst>
    <p:sldId id="539" r:id="rId3"/>
    <p:sldId id="260" r:id="rId4"/>
    <p:sldId id="289" r:id="rId5"/>
    <p:sldId id="563" r:id="rId6"/>
    <p:sldId id="562" r:id="rId7"/>
    <p:sldId id="580" r:id="rId8"/>
    <p:sldId id="561" r:id="rId9"/>
    <p:sldId id="569" r:id="rId10"/>
    <p:sldId id="567" r:id="rId11"/>
    <p:sldId id="568" r:id="rId12"/>
    <p:sldId id="560" r:id="rId13"/>
    <p:sldId id="566" r:id="rId14"/>
    <p:sldId id="570" r:id="rId15"/>
    <p:sldId id="571" r:id="rId16"/>
    <p:sldId id="565" r:id="rId17"/>
    <p:sldId id="572" r:id="rId18"/>
    <p:sldId id="573" r:id="rId19"/>
    <p:sldId id="564" r:id="rId20"/>
    <p:sldId id="574" r:id="rId21"/>
    <p:sldId id="575" r:id="rId22"/>
    <p:sldId id="576" r:id="rId23"/>
    <p:sldId id="581" r:id="rId24"/>
    <p:sldId id="577" r:id="rId25"/>
    <p:sldId id="558" r:id="rId26"/>
    <p:sldId id="542" r:id="rId27"/>
    <p:sldId id="545" r:id="rId28"/>
    <p:sldId id="554" r:id="rId29"/>
    <p:sldId id="557" r:id="rId30"/>
    <p:sldId id="546" r:id="rId31"/>
    <p:sldId id="548" r:id="rId32"/>
    <p:sldId id="547" r:id="rId33"/>
    <p:sldId id="555" r:id="rId34"/>
    <p:sldId id="556" r:id="rId35"/>
    <p:sldId id="549" r:id="rId36"/>
    <p:sldId id="550" r:id="rId37"/>
    <p:sldId id="551" r:id="rId38"/>
    <p:sldId id="552" r:id="rId39"/>
    <p:sldId id="55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-97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8053-C215-4F1B-B034-F2CEC3A12651}" type="datetimeFigureOut">
              <a:rPr lang="en-IN" smtClean="0"/>
              <a:pPr/>
              <a:t>19-07-2025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86552-9209-4EF2-8CFF-E55CDE485F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778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1;p1:notes">
            <a:extLst>
              <a:ext uri="{FF2B5EF4-FFF2-40B4-BE49-F238E27FC236}">
                <a16:creationId xmlns="" xmlns:a16="http://schemas.microsoft.com/office/drawing/2014/main" id="{6239290D-3E94-FAD0-7910-CDA7DFA9C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Google Shape;82;p1:notes">
            <a:extLst>
              <a:ext uri="{FF2B5EF4-FFF2-40B4-BE49-F238E27FC236}">
                <a16:creationId xmlns="" xmlns:a16="http://schemas.microsoft.com/office/drawing/2014/main" id="{1D7A565E-33A6-6574-9D57-CFC2299100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440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F0B6E6A-86BC-81DD-ACEC-AA017F62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6F6E38B-296A-0409-4579-9AB9605C4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9027059-5446-BC10-2B8D-0E925DD5F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F032A1D-3B00-DE3E-5FA6-869D519D5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223668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B598616-2EC3-49B5-6AE4-11D2B69D1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CE47CDE-EBAE-C3C1-6397-C59BC2A28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DB1D62B-FC73-0D57-8946-CCC154AE3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C5E9CE0-62E6-64C8-58C5-845751EE3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33542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1F61753-351E-177A-A19A-4B2443FC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B459C62-F474-EEEB-E153-BAE1F022D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C627E48-308A-3AE0-BDC8-158AA3254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E9378B9-FD6F-C6FC-FBA9-8CBE10AE4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24639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FFDEC84-A8C1-0B2A-DE74-CD1A895F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4502E523-0742-8944-E9C3-E73E13508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F659C2A2-F325-0110-67A5-2D54173D6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BEC7C35-68EE-85CC-D300-7F2C3698F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02885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DC33A84-66F9-EB43-F585-7030B97E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37D05F68-B991-F9F2-A878-1F8C194AA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D966D5F-707F-C2CC-3242-2DD490DA4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3164EBD-EFFF-BC03-DF95-798B83E1F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08879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46680F-A17A-660E-1258-C25A2BA5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193C433-102D-B7D6-93A3-6D8683BB3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3BF1D5B-FDAE-5C35-2244-E3B4D912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BDD43A9-D203-2E50-46F6-443559A96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66276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A73D0A6-7A82-03DD-E04D-406215E5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FDA0C42-2769-977F-7E30-C96B46561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C2253650-DBEC-206F-D17F-05104F5A0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7C85FDA-F8F1-0044-AA2D-7D33A921C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98963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580273B-1634-ED18-52A1-E2ED6C03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0F9320A-1FB7-028C-553A-9CDDCD525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3021672-E2D4-FD33-E64C-B42236D32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DD6DC3-4437-437D-0C98-CEE2C85A7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60620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B8A5ACF-31D2-EE7B-19D9-8287DD4A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CB122B5-CC3D-B16D-5B1B-EBFE87BD5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F7CE689-7520-7B59-2FA6-721BF0A06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AF4A990-EED3-BA57-640C-077B3FBDF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39208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3232AD-638B-50E2-7CC5-4D2F7024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EFD0B4C-245E-8A9F-BD8D-5F39618D4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D47F2C0-EDFC-E6C4-3F9D-C241D759C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66E9A45-3348-EB37-9294-D9B299D34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67787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D1052F-3FEA-4F91-6420-4BF20D4A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2B1E9A0-431B-9E4D-92DA-E78565BEF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864F33F-3D86-D9F0-67E3-511C0FCF5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C9882D6-EBB7-9218-9B3A-78E90357E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48536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A7BDBE-CFC9-7F1C-341C-A2305796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33E92E9-82A3-6AAC-7B51-3EA92F50B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6B3CFFB-120C-90C0-D156-22189A6A2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123FDAF-C57C-FD04-3C6D-41DB4DD13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54821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8593BC-9B8C-81F1-3149-FDF5BC722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1ECCC4A-36CE-E95D-24A6-CF9A2E30E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5649B4A-30A5-1C03-1255-CD3999728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B29EB1-93F6-ACE4-0BB5-D1C79EA90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42075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BBD964C-E359-ABB6-B6DD-9EF73C84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5B66E32-6BCA-9148-59AA-F55033235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C151EED3-3766-A070-BE43-25540C93C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DEFD666-F477-C5CC-E31E-4DEE1AC18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38359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BA2A0B1-324F-9EE6-10CE-6D51F523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1810129-7102-D535-AB05-B7BB10E4C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22DE3BC-5909-5F00-A5E9-992EE3D9F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5DBEAA-83BD-CAA7-20BB-4E10D1BF9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4858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5AD490-A0FD-FF33-6BC1-61639B66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A6EDCA0-1948-825A-0331-4A85C8A6D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FE0870F8-48F2-072D-E20F-15A01CE97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D6C574-7C50-95DF-9AFC-23CBFED5D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10469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3AD4458-1554-1C65-5D3D-C638187CF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B15E557-B6F6-5104-4951-C376D7C43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E850277-80D6-278F-1BCD-640775F8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F2512D9-F8D2-0907-74C9-D1CE18EEA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64030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BBE05B-1ED0-A3DE-3748-2BF6F602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DD89EA8-B335-6747-4DDF-3DB782677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65AF45B-74F5-F494-530D-AC478ADCC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39FF191-0A95-1E31-9657-876149553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18314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DCE4F5F-334C-552E-A8B4-E65A326A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74E997-5703-2B44-1A2A-03933BCFF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0B0F195-D1B6-EF6D-239C-8149558C4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80D1F0F-387E-E582-3CDC-0F25F18AA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27854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02393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077455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55984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81866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5671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717554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252799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90982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2348171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604056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169833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95840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884804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7138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43907A-1C36-3163-8823-39841831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8931A-C565-4B1C-A936-B5CA39C7CD04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B15672E-874D-F919-479C-F31C3BA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1598ECE-D04C-C905-0358-5B5D39EB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BF32D-9D31-4CD0-8B17-4D91DA246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1322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9801D7-1939-0553-5E67-A22FC28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D29A-0C92-4523-9896-D9652EC576B2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7C8B85-1B14-EE11-13F3-127FED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F23CF1-EBBD-A551-2A94-5F2759A6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D0544-02C6-4C17-909A-13488D02D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52189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BCEC3E-474D-98B2-3DD8-0EC2FF85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20673-274D-4247-8161-F61D3918377A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228E6C9-CE10-54A4-6BF2-3C303594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F4E9F0-4F49-EB73-7BA3-253B9F8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55397-1D80-4F70-B204-8003AEC84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17701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6F3347DC-8727-FA52-4FB3-EE5F5608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45F1D-49E8-4AA5-A8D5-1F2A72032E7E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38464574-2B9D-B193-E3D1-685B45C9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C814629F-CF96-8490-DD5A-8503BD8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FACD-FEE9-420D-9319-52C846BCA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1713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EACE3BD-2A0C-3143-4897-C3B07CFE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3E46-4A0A-4700-BB68-A713045AC50C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0446A335-4366-4386-F3DB-BFBE5534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7B8C4C4E-AAC8-42C6-1613-DD4D6B7E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9C8EB-1648-4CB3-B1E5-AF02A07CF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042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B63E63F7-92CB-461C-9F5A-288ECCB5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26748-7D61-4F99-BCB5-561B2FE29A7C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0E55E5BB-53D1-4D75-2095-0BE40C8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60F9A2BE-1BD1-1D98-0C9B-04ECC3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82E88-B8D5-4CC6-A63E-A393B6012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40044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51534290-0A37-B6B5-FECC-D8098B2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F073-1C86-4EAE-8379-A2D7EC9CB060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5D5B8E33-EEE4-B14A-5DD7-9AB6B8B7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95030C33-B194-8041-4198-76B9622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56E0-C946-47CA-89DE-E46AEC715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6667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86AE7F19-7B8D-7C13-C65A-C0B9FB1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7218-745A-4FC1-A09B-6783154A3601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9242A6CA-9380-BC38-7749-26166894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EA137C3C-1528-39A5-2D44-3E37D4E2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6067-6868-471D-89D0-31576D514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535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C9061425-9B74-76D6-1FE8-DA3A496D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DA97-5C18-459E-9042-212CCF63C04F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40CD01D3-2325-A61A-CE46-FC100BAE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92CFFE4B-DD12-E0F2-761A-99A133B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ADD7-0AAB-4DF4-A47E-DEFC59C8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1019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59D64DB-4A11-4A09-0DCC-22DCD5F4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980CB-B09E-44F2-B85A-CC28BFF3936C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92C25F-F2EA-6F3C-AA22-17672639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EA07625-2F75-2E9C-173F-813E0BCA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B05AD-D529-4C46-BA41-798F8AAE7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088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F6307AB-A758-7ACF-1EF5-39524460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4204F-497E-4357-BC10-5017874068A6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083595D-F878-D090-2021-A9C3B17B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A837D67-0477-0305-7A3A-F5100530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B7426-2160-4114-9A12-2143FC702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77739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14;p5">
            <a:extLst>
              <a:ext uri="{FF2B5EF4-FFF2-40B4-BE49-F238E27FC236}">
                <a16:creationId xmlns="" xmlns:a16="http://schemas.microsoft.com/office/drawing/2014/main" id="{DA90ECB4-5A99-18ED-D6A7-280396D61411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5;p5">
            <a:extLst>
              <a:ext uri="{FF2B5EF4-FFF2-40B4-BE49-F238E27FC236}">
                <a16:creationId xmlns="" xmlns:a16="http://schemas.microsoft.com/office/drawing/2014/main" id="{4E98BFAF-269A-752B-8FFA-422CB155D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6;p5">
            <a:extLst>
              <a:ext uri="{FF2B5EF4-FFF2-40B4-BE49-F238E27FC236}">
                <a16:creationId xmlns="" xmlns:a16="http://schemas.microsoft.com/office/drawing/2014/main" id="{209C6DAC-36B0-A431-08C5-015D8A87F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32BFBD3-3A94-49FD-90AB-D2D0890F1E46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371699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=""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=""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=""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2125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=""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=""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=""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6237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1">
            <a:extLst>
              <a:ext uri="{FF2B5EF4-FFF2-40B4-BE49-F238E27FC236}">
                <a16:creationId xmlns="" xmlns:a16="http://schemas.microsoft.com/office/drawing/2014/main" id="{B8D0276B-A5BA-701B-29D0-8A840E48160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2;p11">
            <a:extLst>
              <a:ext uri="{FF2B5EF4-FFF2-40B4-BE49-F238E27FC236}">
                <a16:creationId xmlns="" xmlns:a16="http://schemas.microsoft.com/office/drawing/2014/main" id="{2CA0BFC4-CB42-33F6-DD82-90444FE9E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53;p11">
            <a:extLst>
              <a:ext uri="{FF2B5EF4-FFF2-40B4-BE49-F238E27FC236}">
                <a16:creationId xmlns="" xmlns:a16="http://schemas.microsoft.com/office/drawing/2014/main" id="{EFB5FE0E-85F5-D188-5D1D-0CF289116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95F859B-F2B4-4294-AF96-B530928DD2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3888265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=""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=""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=""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145614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=""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=""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=""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85313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=""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=""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=""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125163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=""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=""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=""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81504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0A9A36-F1DA-3FA1-A396-666A72C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CDB6FADF-BAB5-446B-A17D-DD63085ABEB1}" type="datetimeFigureOut">
              <a:rPr lang="en-IN"/>
              <a:pPr>
                <a:defRPr/>
              </a:pPr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EDB651-D4AE-77A8-E5A9-D59C080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7CF9730-C064-0035-C593-35984FE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68CD4C68-2984-4322-AC21-F4A5D84B5DE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910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705FE634-3DDB-58D6-B65B-BE2DECE51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D0AB312F-655A-B928-C716-7B725F4CB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A81B2B1-EA7F-E5F9-DD89-79D9DBE92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4F82-FCE3-45D0-9DA8-4EAC396B1C73}" type="datetimeFigureOut">
              <a:rPr lang="en-US"/>
              <a:pPr>
                <a:defRPr/>
              </a:pPr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8D1376E-95ED-9CAB-4DDF-2479CA091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9489FE-5D9F-0550-7A9D-3F8704A2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1F2F54-862E-40C7-885D-8EBAC84A3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871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=""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=""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=""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=""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=""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="" xmlns:p14="http://schemas.microsoft.com/office/powerpoint/2010/main" val="836436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uml.io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27795" y="702465"/>
            <a:ext cx="10953115" cy="2253615"/>
          </a:xfrm>
          <a:effectLst>
            <a:outerShdw dist="63500" sx="1000" sy="1000" algn="ctr" rotWithShape="0">
              <a:schemeClr val="accent2">
                <a:lumMod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(23CC505PC)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/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/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  <a:sym typeface="+mn-ea"/>
              </a:rPr>
              <a:t>SOFTWARE ENGINEERING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74663" y="3380518"/>
            <a:ext cx="11456987" cy="319214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LAB EXERCISE 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– 1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SOFTWARE INSTALLATION &amp;  SRS DOCUMENT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052" name="Group 14"/>
          <p:cNvGrpSpPr/>
          <p:nvPr/>
        </p:nvGrpSpPr>
        <p:grpSpPr>
          <a:xfrm>
            <a:off x="403225" y="61913"/>
            <a:ext cx="11456988" cy="1116012"/>
            <a:chOff x="376972" y="40036"/>
            <a:chExt cx="11456149" cy="11161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23" y="40036"/>
              <a:ext cx="1069848" cy="8699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972" y="83215"/>
              <a:ext cx="1069848" cy="7440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289" y="83214"/>
              <a:ext cx="1069848" cy="7715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448405" y="905335"/>
              <a:ext cx="1904860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UPPAL CAMPUS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89920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NARAYANGUDA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 cstate="print"/>
            <a:srcRect l="7635" t="13601" r="2078" b="14170"/>
            <a:stretch>
              <a:fillRect/>
            </a:stretch>
          </p:blipFill>
          <p:spPr>
            <a:xfrm>
              <a:off x="10346348" y="46291"/>
              <a:ext cx="1069848" cy="8558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Rectangle 11"/>
            <p:cNvSpPr/>
            <p:nvPr/>
          </p:nvSpPr>
          <p:spPr>
            <a:xfrm>
              <a:off x="9929847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IBRAHIMPATNAM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1717675" y="2986088"/>
            <a:ext cx="8756650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ENGINEERING LAB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(23CC505PC)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SRS Document – A Practical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621274" y="1587435"/>
            <a:ext cx="11220060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/>
              <a:t> What is SRS?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document that captures the complete software requirements.</a:t>
            </a:r>
          </a:p>
          <a:p>
            <a:pPr algn="just">
              <a:lnSpc>
                <a:spcPct val="200000"/>
              </a:lnSpc>
            </a:pPr>
            <a:r>
              <a:rPr lang="en-US" sz="2400" b="1" dirty="0"/>
              <a:t>Importance of SRS: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Acts as a blueprint for development.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Bridges the gap between client and developer.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Basis for validation and verification.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B725C92-2AF7-5CEC-833A-E0612740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B7AFDC-F1AC-15C0-2AD6-64301005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Structure of an SRS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28944C-CD40-F278-36BE-8FBC73215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0896BE4-A1DA-DFCA-DB74-918F113A17F1}"/>
              </a:ext>
            </a:extLst>
          </p:cNvPr>
          <p:cNvSpPr txBox="1"/>
          <p:nvPr/>
        </p:nvSpPr>
        <p:spPr>
          <a:xfrm>
            <a:off x="899410" y="1212685"/>
            <a:ext cx="106721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1. Abstract </a:t>
            </a:r>
          </a:p>
          <a:p>
            <a:pPr algn="just">
              <a:lnSpc>
                <a:spcPct val="200000"/>
              </a:lnSpc>
            </a:pPr>
            <a:r>
              <a:rPr lang="en-US" sz="2400" dirty="0"/>
              <a:t>2. Functional Requirements (FR)</a:t>
            </a:r>
          </a:p>
          <a:p>
            <a:pPr algn="just">
              <a:lnSpc>
                <a:spcPct val="200000"/>
              </a:lnSpc>
            </a:pPr>
            <a:r>
              <a:rPr lang="en-US" sz="2400" dirty="0"/>
              <a:t>3. Non-Functional Requirements (NFR)</a:t>
            </a:r>
          </a:p>
          <a:p>
            <a:pPr algn="just">
              <a:lnSpc>
                <a:spcPct val="200000"/>
              </a:lnSpc>
            </a:pPr>
            <a:r>
              <a:rPr lang="en-US" sz="2400" dirty="0"/>
              <a:t>4. User </a:t>
            </a:r>
            <a:r>
              <a:rPr lang="en-US" sz="2400" dirty="0" smtClean="0"/>
              <a:t>Identification</a:t>
            </a:r>
            <a:endParaRPr lang="en-US" sz="2400" dirty="0"/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5. </a:t>
            </a:r>
            <a:r>
              <a:rPr lang="en-US" sz="2400" dirty="0"/>
              <a:t>Workflow of Each </a:t>
            </a:r>
            <a:r>
              <a:rPr lang="en-US" sz="2400" dirty="0" smtClean="0"/>
              <a:t>User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6. Use Cases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36850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F55D03-0B47-1B82-BD31-8B376E18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EEFC67-012A-5FB5-1502-D6294DB7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0"/>
            <a:ext cx="10972800" cy="12591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rgbClr val="FF0000"/>
                </a:solidFill>
              </a:rPr>
              <a:t>Abstract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198815-7FAC-5C69-6F4F-318EF0BB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987" y="1350340"/>
            <a:ext cx="10203254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0940DEC-F747-6E38-5083-E1BFC8B4E76F}"/>
              </a:ext>
            </a:extLst>
          </p:cNvPr>
          <p:cNvSpPr txBox="1"/>
          <p:nvPr/>
        </p:nvSpPr>
        <p:spPr>
          <a:xfrm>
            <a:off x="1049312" y="1469036"/>
            <a:ext cx="107679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Define the problem clearly.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Explain the purpose of the </a:t>
            </a:r>
            <a:r>
              <a:rPr lang="en-US" sz="2400" dirty="0" smtClean="0"/>
              <a:t>software/why is this problem important.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What it provides(what feature using which technology/method)</a:t>
            </a:r>
            <a:endParaRPr lang="en-US" sz="2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Keep it concise (2-3 </a:t>
            </a:r>
            <a:r>
              <a:rPr lang="en-US" sz="2400" dirty="0" smtClean="0"/>
              <a:t>sentences).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Outcome/result/use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6472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indent="-285750">
              <a:lnSpc>
                <a:spcPct val="200000"/>
              </a:lnSpc>
            </a:pPr>
            <a:r>
              <a:rPr lang="en-US" sz="4800" dirty="0" smtClean="0"/>
              <a:t>Example (</a:t>
            </a:r>
            <a:r>
              <a:rPr lang="en-US" sz="4800" dirty="0" err="1" smtClean="0"/>
              <a:t>Spotify</a:t>
            </a:r>
            <a:r>
              <a:rPr lang="en-US" sz="4800" dirty="0" smtClean="0"/>
              <a:t>-like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 algn="just">
              <a:lnSpc>
                <a:spcPct val="150000"/>
              </a:lnSpc>
              <a:buNone/>
            </a:pPr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“In </a:t>
            </a:r>
            <a:r>
              <a:rPr lang="en-US" sz="3600" b="1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many users seek a personalized music streaming experience across devices. However, current solutions may lack intuitive interfaces, offline support, or seamless playlist sharing. The proposed system offers a cloud-based music platform allowing users to stream, download, and organize music with personalized recommendations."</a:t>
            </a:r>
            <a:endParaRPr lang="en-IN" sz="36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0ADEBB3-4E10-254C-8DBF-0862D825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BF3266-0CCB-5C60-3239-6AF8DCC6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Hands-On  -  Activity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6694691-2E76-E725-F722-13B76819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108EA84-A46A-B1EB-D4C4-CE2DE2C65BC1}"/>
              </a:ext>
            </a:extLst>
          </p:cNvPr>
          <p:cNvSpPr txBox="1"/>
          <p:nvPr/>
        </p:nvSpPr>
        <p:spPr>
          <a:xfrm>
            <a:off x="5875331" y="2107308"/>
            <a:ext cx="5475514" cy="219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400" b="1" dirty="0"/>
              <a:t>  Now  Let us take up </a:t>
            </a:r>
          </a:p>
          <a:p>
            <a:pPr algn="ctr">
              <a:lnSpc>
                <a:spcPct val="200000"/>
              </a:lnSpc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</a:rPr>
              <a:t>WhatsApp application    </a:t>
            </a:r>
          </a:p>
          <a:p>
            <a:pPr algn="ctr">
              <a:lnSpc>
                <a:spcPct val="200000"/>
              </a:lnSpc>
              <a:spcAft>
                <a:spcPts val="1200"/>
              </a:spcAft>
            </a:pPr>
            <a:r>
              <a:rPr lang="en-IN" sz="2400" b="1" dirty="0"/>
              <a:t>Write the abstract</a:t>
            </a:r>
          </a:p>
        </p:txBody>
      </p:sp>
      <p:pic>
        <p:nvPicPr>
          <p:cNvPr id="1026" name="Picture 2" descr="1,395,900+ Activity Time Stock Photos, Pictures &amp; Royalty-Free Images -  iStock">
            <a:extLst>
              <a:ext uri="{FF2B5EF4-FFF2-40B4-BE49-F238E27FC236}">
                <a16:creationId xmlns="" xmlns:a16="http://schemas.microsoft.com/office/drawing/2014/main" id="{4E10AD0B-B459-3328-3287-26E4C30A1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16" y="2005577"/>
            <a:ext cx="4937760" cy="30901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30069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B93C703-4187-6962-064D-F6F2F92C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8DFBA8-B838-0313-F2DA-D15B4F92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Let’s Review &amp; 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CB052CF-B03D-E559-4C3F-62CE713FB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CAAFE95-F09B-BABB-FE4F-815014DC1700}"/>
              </a:ext>
            </a:extLst>
          </p:cNvPr>
          <p:cNvSpPr txBox="1"/>
          <p:nvPr/>
        </p:nvSpPr>
        <p:spPr>
          <a:xfrm>
            <a:off x="351454" y="1437535"/>
            <a:ext cx="11220060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/>
              <a:t>WhatsApp is a cross-platform instant messaging application that allows users to communicate via text, voice, images, documents, and video calls over the internet. It provides real-time, end-to-end encrypted communication, supports both individual and group chats, and includes features like status updates, media sharing, voice notes, and location sharing. The goal is to provide a secure, fast, and user-friendly communication tool accessible globally.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42928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C61BCE-8FFF-C2C5-6D8D-5AD97856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2F9385-03A2-B101-CD47-C782EEC4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Identifying Functional Requirements (FR)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A6ECBD2-25AC-6290-5357-5159F6AEA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B20B9C0-3657-472D-AF2B-496F999B9EB7}"/>
              </a:ext>
            </a:extLst>
          </p:cNvPr>
          <p:cNvSpPr txBox="1"/>
          <p:nvPr/>
        </p:nvSpPr>
        <p:spPr>
          <a:xfrm>
            <a:off x="444759" y="999312"/>
            <a:ext cx="11595707" cy="514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/>
              <a:t>[These are Mandatory Requirements]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the system should do. The specific actions the system must perform. 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Functions or services that the software provides to users.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Examples: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FR1: The user shall be able to sign up using an email ID.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FR2: The user shall be able to search for songs, albums, etc. by keyword.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FR3: The system shall allow users to create and modify playlists.</a:t>
            </a:r>
          </a:p>
        </p:txBody>
      </p:sp>
    </p:spTree>
    <p:extLst>
      <p:ext uri="{BB962C8B-B14F-4D97-AF65-F5344CB8AC3E}">
        <p14:creationId xmlns="" xmlns:p14="http://schemas.microsoft.com/office/powerpoint/2010/main" val="207610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691FC0D-7B46-D369-87C8-7A9C9070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A0693E-A486-C334-1210-836F92BF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Hands-On  -  Activity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8BD195-9842-CF37-CAD4-92366B14E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378FA51-BDB5-C515-93B2-28F9EAE19885}"/>
              </a:ext>
            </a:extLst>
          </p:cNvPr>
          <p:cNvSpPr txBox="1"/>
          <p:nvPr/>
        </p:nvSpPr>
        <p:spPr>
          <a:xfrm>
            <a:off x="6010241" y="2791433"/>
            <a:ext cx="5475514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400" b="1" dirty="0"/>
              <a:t>  Ok Now identify the FR for</a:t>
            </a:r>
          </a:p>
          <a:p>
            <a:pPr algn="ctr">
              <a:lnSpc>
                <a:spcPct val="200000"/>
              </a:lnSpc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</a:rPr>
              <a:t>WhatsApp application    </a:t>
            </a:r>
          </a:p>
        </p:txBody>
      </p:sp>
      <p:pic>
        <p:nvPicPr>
          <p:cNvPr id="1026" name="Picture 2" descr="1,395,900+ Activity Time Stock Photos, Pictures &amp; Royalty-Free Images -  iStock">
            <a:extLst>
              <a:ext uri="{FF2B5EF4-FFF2-40B4-BE49-F238E27FC236}">
                <a16:creationId xmlns="" xmlns:a16="http://schemas.microsoft.com/office/drawing/2014/main" id="{818B0875-2879-86F8-2391-B31443E1A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1" y="2145792"/>
            <a:ext cx="4937760" cy="30901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45246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5A107A5-2655-BAA9-6109-F8305EB1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6C1709-F16D-28FE-F09B-60963C2A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Let’s Review &amp; 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980293-BA0D-073D-6430-DA3D4A666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76D6BA7-9741-2D2B-2128-85E73F2DBCBD}"/>
              </a:ext>
            </a:extLst>
          </p:cNvPr>
          <p:cNvSpPr txBox="1"/>
          <p:nvPr/>
        </p:nvSpPr>
        <p:spPr>
          <a:xfrm>
            <a:off x="430764" y="1321364"/>
            <a:ext cx="11220060" cy="514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200000"/>
              </a:lnSpc>
            </a:pPr>
            <a:r>
              <a:rPr lang="en-US" sz="2400" dirty="0"/>
              <a:t>Few Sample FRs: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FR1: User registration and phone number verification via OTP.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FR2: View and sync contacts using the phone’s contact list.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FR3: One-to-one text messaging.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FR4: Sending/receiving media (images, videos, documents).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FR5: User profile management (photo, name, about)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9289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73D0DF4-4EB8-F0E6-FDE2-11D697C6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F1B0FB-EBE9-4365-E5D3-9D73096F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Identifying Non-Functional Requirements (NFR)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B970DD-D036-308A-CC0A-92B4F0485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529591E-ACB9-D71A-764D-4C28BC84F3B5}"/>
              </a:ext>
            </a:extLst>
          </p:cNvPr>
          <p:cNvSpPr txBox="1"/>
          <p:nvPr/>
        </p:nvSpPr>
        <p:spPr>
          <a:xfrm>
            <a:off x="485970" y="978883"/>
            <a:ext cx="11220060" cy="5717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/>
              <a:t>[These are Optional Requirements]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These describe how well the system should perform.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System attributes like performance, usability, security, scalability etc.</a:t>
            </a:r>
          </a:p>
          <a:p>
            <a:pPr algn="just">
              <a:lnSpc>
                <a:spcPct val="200000"/>
              </a:lnSpc>
            </a:pPr>
            <a:r>
              <a:rPr lang="en-US" sz="2400" dirty="0"/>
              <a:t>Examples:</a:t>
            </a:r>
          </a:p>
          <a:p>
            <a:pPr lvl="1" algn="just">
              <a:lnSpc>
                <a:spcPct val="200000"/>
              </a:lnSpc>
            </a:pPr>
            <a:r>
              <a:rPr lang="en-US" sz="2400" dirty="0"/>
              <a:t>-   NFR1: The system should respond to user queries within 2 seconds.</a:t>
            </a:r>
          </a:p>
          <a:p>
            <a:pPr marL="800100" lvl="1" indent="-342900" algn="just">
              <a:lnSpc>
                <a:spcPct val="200000"/>
              </a:lnSpc>
              <a:buFontTx/>
              <a:buChar char="-"/>
            </a:pPr>
            <a:r>
              <a:rPr lang="en-US" sz="2400" dirty="0"/>
              <a:t>NFR2: The application shall be available 24 x 7.</a:t>
            </a: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buFontTx/>
              <a:buChar char="-"/>
            </a:pPr>
            <a:r>
              <a:rPr lang="en-US" sz="2400" dirty="0"/>
              <a:t>NFR3: The system should be able to handle thousands of users at the same time.</a:t>
            </a:r>
          </a:p>
        </p:txBody>
      </p:sp>
    </p:spTree>
    <p:extLst>
      <p:ext uri="{BB962C8B-B14F-4D97-AF65-F5344CB8AC3E}">
        <p14:creationId xmlns="" xmlns:p14="http://schemas.microsoft.com/office/powerpoint/2010/main" val="215463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CD20721-8796-20C3-2843-37ABB6C9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7379D9-6044-8F4D-9B65-97EB731C0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Hands-On  -  Activity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C7E4799-BA2C-C305-6D66-309400671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E0D8659-04F5-C64E-B3CF-5E420E03AB10}"/>
              </a:ext>
            </a:extLst>
          </p:cNvPr>
          <p:cNvSpPr txBox="1"/>
          <p:nvPr/>
        </p:nvSpPr>
        <p:spPr>
          <a:xfrm>
            <a:off x="6010241" y="2791433"/>
            <a:ext cx="5475514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400" b="1" dirty="0"/>
              <a:t>  Ok Now identify the NFR for</a:t>
            </a:r>
          </a:p>
          <a:p>
            <a:pPr algn="ctr">
              <a:lnSpc>
                <a:spcPct val="200000"/>
              </a:lnSpc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</a:rPr>
              <a:t>WhatsApp application    </a:t>
            </a:r>
          </a:p>
        </p:txBody>
      </p:sp>
      <p:pic>
        <p:nvPicPr>
          <p:cNvPr id="1026" name="Picture 2" descr="1,395,900+ Activity Time Stock Photos, Pictures &amp; Royalty-Free Images -  iStock">
            <a:extLst>
              <a:ext uri="{FF2B5EF4-FFF2-40B4-BE49-F238E27FC236}">
                <a16:creationId xmlns="" xmlns:a16="http://schemas.microsoft.com/office/drawing/2014/main" id="{31B64A19-99ED-C94C-EA3B-4FA34C8C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1" y="2145792"/>
            <a:ext cx="4937760" cy="30901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01440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B4822EB-C5C5-CC1C-1F0C-4ED166BA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EC5FF6-29EF-4ACE-6B26-1DC95EBA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Let’s Review &amp; 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A41F34E-A5B0-28E3-CD25-434EBA4C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112510"/>
            <a:ext cx="11206065" cy="5378232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840ABB0-3FDC-AA39-4A62-F36847B488EF}"/>
              </a:ext>
            </a:extLst>
          </p:cNvPr>
          <p:cNvSpPr txBox="1"/>
          <p:nvPr/>
        </p:nvSpPr>
        <p:spPr>
          <a:xfrm>
            <a:off x="345297" y="1112509"/>
            <a:ext cx="11501406" cy="482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200000"/>
              </a:lnSpc>
            </a:pPr>
            <a:r>
              <a:rPr lang="en-US" sz="2400" dirty="0"/>
              <a:t>Few Sample NFRs: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NFR1: The system should support billions of users concurrently.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NFR2: Messages must be delivered with &lt;1 second delay in ideal conditions.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NFR3: 99.99% uptime for the service.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NFR4: Data must be encrypted end-to-end.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NFR5: The interface must be responsive and work across Android, iOS, and Web</a:t>
            </a:r>
          </a:p>
        </p:txBody>
      </p:sp>
    </p:spTree>
    <p:extLst>
      <p:ext uri="{BB962C8B-B14F-4D97-AF65-F5344CB8AC3E}">
        <p14:creationId xmlns="" xmlns:p14="http://schemas.microsoft.com/office/powerpoint/2010/main" val="312298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133B99D0-3F4A-AAEF-24C0-5DBFC966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B7CBE9-F6E0-6775-9E55-D5D50B90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User </a:t>
            </a:r>
            <a:r>
              <a:rPr lang="en-US" sz="4000" b="1" dirty="0" smtClean="0">
                <a:solidFill>
                  <a:srgbClr val="FF0000"/>
                </a:solidFill>
              </a:rPr>
              <a:t>s of </a:t>
            </a:r>
            <a:r>
              <a:rPr lang="en-US" sz="4000" b="1" dirty="0" err="1" smtClean="0">
                <a:solidFill>
                  <a:srgbClr val="FF0000"/>
                </a:solidFill>
              </a:rPr>
              <a:t>Spotify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AD0F96-949E-1685-CF90-5B873E1A2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24C3676-10BC-4C0F-463D-9B3902669AA1}"/>
              </a:ext>
            </a:extLst>
          </p:cNvPr>
          <p:cNvSpPr txBox="1"/>
          <p:nvPr/>
        </p:nvSpPr>
        <p:spPr>
          <a:xfrm>
            <a:off x="351454" y="1437535"/>
            <a:ext cx="112200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Who will use the system?</a:t>
            </a:r>
          </a:p>
          <a:p>
            <a:pPr marL="8001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Categories of users: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Free User 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Premium User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Admin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915623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E63D7B9-C53A-6BA3-7C3D-340A112F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5712B-E7FB-3771-8B4D-3B9CC62C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Hands-On  -  Activity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153F3A-186A-2195-89B3-BE5E646A2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7092B5A7-4E17-78A2-C7DC-0EC854D8EFBE}"/>
              </a:ext>
            </a:extLst>
          </p:cNvPr>
          <p:cNvSpPr txBox="1"/>
          <p:nvPr/>
        </p:nvSpPr>
        <p:spPr>
          <a:xfrm>
            <a:off x="6010241" y="2791433"/>
            <a:ext cx="5475514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400" b="1" dirty="0"/>
              <a:t>  Ok Now identify the Users for</a:t>
            </a:r>
          </a:p>
          <a:p>
            <a:pPr algn="ctr">
              <a:lnSpc>
                <a:spcPct val="200000"/>
              </a:lnSpc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</a:rPr>
              <a:t>WhatsApp application    </a:t>
            </a:r>
          </a:p>
        </p:txBody>
      </p:sp>
      <p:pic>
        <p:nvPicPr>
          <p:cNvPr id="1026" name="Picture 2" descr="1,395,900+ Activity Time Stock Photos, Pictures &amp; Royalty-Free Images -  iStock">
            <a:extLst>
              <a:ext uri="{FF2B5EF4-FFF2-40B4-BE49-F238E27FC236}">
                <a16:creationId xmlns="" xmlns:a16="http://schemas.microsoft.com/office/drawing/2014/main" id="{77F7171E-61B4-C079-255D-64FD0BAC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1" y="2145792"/>
            <a:ext cx="4937760" cy="30901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817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4F03681-CEDF-5B4A-5635-74C8ABBB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416EC9-F5BF-9573-7BEC-CA43B9B2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Let’s Review &amp; 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87EC2E-4999-8AAD-2556-56294DAE1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112510"/>
            <a:ext cx="11206065" cy="5378232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7532DA1-8968-025F-95DD-C36B12E26C34}"/>
              </a:ext>
            </a:extLst>
          </p:cNvPr>
          <p:cNvSpPr txBox="1"/>
          <p:nvPr/>
        </p:nvSpPr>
        <p:spPr>
          <a:xfrm>
            <a:off x="119921" y="1337362"/>
            <a:ext cx="11627320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200000"/>
              </a:lnSpc>
            </a:pPr>
            <a:r>
              <a:rPr lang="en-US" sz="2400" dirty="0"/>
              <a:t>Example:</a:t>
            </a:r>
          </a:p>
          <a:p>
            <a:pPr lvl="1" algn="just">
              <a:lnSpc>
                <a:spcPct val="200000"/>
              </a:lnSpc>
            </a:pPr>
            <a:r>
              <a:rPr lang="en-US" sz="2400" b="1" dirty="0"/>
              <a:t>Registered User</a:t>
            </a:r>
            <a:r>
              <a:rPr lang="en-US" sz="2400" dirty="0"/>
              <a:t>:		</a:t>
            </a:r>
            <a:r>
              <a:rPr lang="en-US" sz="2000" dirty="0"/>
              <a:t>Any person who has signed up using a phone number</a:t>
            </a:r>
            <a:endParaRPr lang="en-US" sz="2400" dirty="0"/>
          </a:p>
          <a:p>
            <a:pPr lvl="1" algn="just">
              <a:lnSpc>
                <a:spcPct val="200000"/>
              </a:lnSpc>
            </a:pPr>
            <a:r>
              <a:rPr lang="en-US" sz="2400" b="1" dirty="0"/>
              <a:t>Admin (Group Admin):</a:t>
            </a:r>
            <a:r>
              <a:rPr lang="en-US" sz="2400" dirty="0"/>
              <a:t>	</a:t>
            </a:r>
            <a:r>
              <a:rPr lang="en-US" sz="2000" dirty="0"/>
              <a:t>A user who creates a group or is given admin privileges</a:t>
            </a:r>
          </a:p>
          <a:p>
            <a:pPr lvl="1" algn="just">
              <a:lnSpc>
                <a:spcPct val="200000"/>
              </a:lnSpc>
            </a:pPr>
            <a:r>
              <a:rPr lang="en-US" sz="2400" b="1" dirty="0"/>
              <a:t>Unregistered Contact</a:t>
            </a:r>
            <a:r>
              <a:rPr lang="en-US" sz="2400" dirty="0"/>
              <a:t>:		</a:t>
            </a:r>
            <a:r>
              <a:rPr lang="en-US" sz="2000" dirty="0"/>
              <a:t>A contact saved in a user’s phone but not yet on WhatsApp</a:t>
            </a:r>
            <a:endParaRPr lang="en-US" sz="2400" dirty="0"/>
          </a:p>
          <a:p>
            <a:pPr lvl="1" algn="just">
              <a:lnSpc>
                <a:spcPct val="200000"/>
              </a:lnSpc>
            </a:pPr>
            <a:r>
              <a:rPr lang="en-US" sz="2400" b="1" dirty="0"/>
              <a:t>System (Backend Services):</a:t>
            </a:r>
            <a:r>
              <a:rPr lang="en-US" sz="2400" dirty="0"/>
              <a:t>	</a:t>
            </a:r>
            <a:r>
              <a:rPr lang="en-US" sz="2000" dirty="0"/>
              <a:t>Handles message routing, encryption, sync, and storage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44595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198A4AC-0662-BC7E-E89C-43737D3E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D6C551-8D34-EA3A-80EA-366A15F3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Workflow of Each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A0732FF-594B-AC2A-65D6-0F1EA9621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EB19FD3-3097-EAA1-1B00-E37D5139B7B1}"/>
              </a:ext>
            </a:extLst>
          </p:cNvPr>
          <p:cNvSpPr txBox="1"/>
          <p:nvPr/>
        </p:nvSpPr>
        <p:spPr>
          <a:xfrm>
            <a:off x="971940" y="886209"/>
            <a:ext cx="102407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/>
              <a:t>Define </a:t>
            </a:r>
            <a:r>
              <a:rPr lang="en-US" sz="2400" b="1" dirty="0" smtClean="0"/>
              <a:t>workflow [ </a:t>
            </a:r>
            <a:r>
              <a:rPr lang="en-US" sz="2400" b="1" dirty="0"/>
              <a:t>User role and actions].</a:t>
            </a:r>
          </a:p>
          <a:p>
            <a:pPr algn="just"/>
            <a:r>
              <a:rPr lang="en-US" sz="2400" dirty="0"/>
              <a:t>Free User Workflow Example:</a:t>
            </a:r>
          </a:p>
          <a:p>
            <a:pPr marL="432000" indent="-457200">
              <a:buFont typeface="Arial" pitchFamily="34" charset="0"/>
              <a:buChar char="•"/>
            </a:pPr>
            <a:r>
              <a:rPr lang="en-IN" sz="2400" dirty="0" smtClean="0"/>
              <a:t>Browse Music (songs, albums, playlists)</a:t>
            </a:r>
          </a:p>
          <a:p>
            <a:pPr marL="432000" indent="-457200">
              <a:buFont typeface="Arial" pitchFamily="34" charset="0"/>
              <a:buChar char="•"/>
            </a:pPr>
            <a:r>
              <a:rPr lang="en-IN" sz="2400" dirty="0" smtClean="0"/>
              <a:t>Listen to music (limited access)</a:t>
            </a:r>
          </a:p>
          <a:p>
            <a:pPr marL="432000" indent="-457200">
              <a:buFont typeface="Arial" pitchFamily="34" charset="0"/>
              <a:buChar char="•"/>
            </a:pPr>
            <a:r>
              <a:rPr lang="en-IN" sz="2400" dirty="0" smtClean="0"/>
              <a:t>Search for music</a:t>
            </a:r>
          </a:p>
          <a:p>
            <a:pPr marL="432000" indent="-457200">
              <a:buFont typeface="Arial" pitchFamily="34" charset="0"/>
              <a:buChar char="•"/>
            </a:pPr>
            <a:r>
              <a:rPr lang="en-IN" sz="2400" dirty="0" smtClean="0"/>
              <a:t>Create an account</a:t>
            </a:r>
          </a:p>
          <a:p>
            <a:pPr marL="432000" indent="-457200">
              <a:buFont typeface="Arial" pitchFamily="34" charset="0"/>
              <a:buChar char="•"/>
            </a:pPr>
            <a:r>
              <a:rPr lang="en-IN" sz="2400" dirty="0" smtClean="0"/>
              <a:t>Play songs (with ads and limited skips)</a:t>
            </a:r>
          </a:p>
          <a:p>
            <a:pPr marL="432000" indent="-457200">
              <a:buFont typeface="Arial" pitchFamily="34" charset="0"/>
              <a:buChar char="•"/>
            </a:pPr>
            <a:endParaRPr lang="en-IN" sz="2400" dirty="0" smtClean="0"/>
          </a:p>
          <a:p>
            <a:r>
              <a:rPr lang="en-IN" sz="2400" b="1" dirty="0" smtClean="0"/>
              <a:t>Admin</a:t>
            </a:r>
            <a:r>
              <a:rPr lang="en-IN" sz="2400" dirty="0" smtClean="0"/>
              <a:t>:</a:t>
            </a:r>
          </a:p>
          <a:p>
            <a:r>
              <a:rPr lang="en-IN" sz="2400" dirty="0" smtClean="0"/>
              <a:t>Manage user accounts</a:t>
            </a:r>
          </a:p>
          <a:p>
            <a:r>
              <a:rPr lang="en-IN" sz="2400" dirty="0" smtClean="0"/>
              <a:t>Moderate content (songs, playlists, comments)</a:t>
            </a:r>
          </a:p>
          <a:p>
            <a:r>
              <a:rPr lang="en-IN" sz="2400" dirty="0" smtClean="0"/>
              <a:t>View user activity and statistics</a:t>
            </a:r>
          </a:p>
          <a:p>
            <a:r>
              <a:rPr lang="en-IN" sz="2400" dirty="0" smtClean="0"/>
              <a:t>Add and remove content (songs, albums, etc.)</a:t>
            </a:r>
          </a:p>
          <a:p>
            <a:pPr marL="432000" indent="-457200"/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296424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BCF6768-29CB-5812-F098-EEA4FF99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E3916E-FC79-A042-E6BD-5A877A77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Hands-On  -  Activity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5065091-4A61-B503-19E0-06FCEA574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5433C31-0D9A-23E1-57BF-8662FFA710B2}"/>
              </a:ext>
            </a:extLst>
          </p:cNvPr>
          <p:cNvSpPr txBox="1"/>
          <p:nvPr/>
        </p:nvSpPr>
        <p:spPr>
          <a:xfrm>
            <a:off x="6010241" y="2791433"/>
            <a:ext cx="5475514" cy="219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400" b="1" dirty="0"/>
              <a:t>  Ok Now identify the Workflow for Registered User for</a:t>
            </a:r>
          </a:p>
          <a:p>
            <a:pPr algn="ctr">
              <a:lnSpc>
                <a:spcPct val="200000"/>
              </a:lnSpc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</a:rPr>
              <a:t>WhatsApp application    </a:t>
            </a:r>
          </a:p>
        </p:txBody>
      </p:sp>
      <p:pic>
        <p:nvPicPr>
          <p:cNvPr id="1026" name="Picture 2" descr="1,395,900+ Activity Time Stock Photos, Pictures &amp; Royalty-Free Images -  iStock">
            <a:extLst>
              <a:ext uri="{FF2B5EF4-FFF2-40B4-BE49-F238E27FC236}">
                <a16:creationId xmlns="" xmlns:a16="http://schemas.microsoft.com/office/drawing/2014/main" id="{FECD5704-2273-3BF1-4627-F573C9685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1" y="2145792"/>
            <a:ext cx="4937760" cy="309013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40653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2F75505-9B9D-ED97-057A-2F070E9D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6C7001-921A-8EDD-4025-A6C1DB64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33725"/>
            <a:ext cx="10972800" cy="460951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Let’s Review &amp; 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1DEA18-6ED9-5090-666C-5337B98B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112510"/>
            <a:ext cx="11206065" cy="5378232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F9642B7B-2505-D7C0-D047-66989AAF0631}"/>
              </a:ext>
            </a:extLst>
          </p:cNvPr>
          <p:cNvSpPr txBox="1"/>
          <p:nvPr/>
        </p:nvSpPr>
        <p:spPr>
          <a:xfrm>
            <a:off x="524653" y="933191"/>
            <a:ext cx="11222588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400" b="1" dirty="0"/>
              <a:t>Registered User Workflow:</a:t>
            </a:r>
          </a:p>
          <a:p>
            <a:pPr marL="914400" lvl="1" indent="-457200" algn="just">
              <a:lnSpc>
                <a:spcPct val="200000"/>
              </a:lnSpc>
              <a:buAutoNum type="alphaLcParenR"/>
            </a:pPr>
            <a:r>
              <a:rPr lang="en-US" sz="2000" b="1" dirty="0"/>
              <a:t>Registration &amp; Setup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Install the app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Enter phone number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Receive and enter OTP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Set name and profile picture</a:t>
            </a:r>
          </a:p>
          <a:p>
            <a:pPr lvl="1"/>
            <a:r>
              <a:rPr lang="en-US" sz="2000" b="1" dirty="0"/>
              <a:t>b) Messaging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View contacts who use WhatsApp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Select a contact to chat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Type and send message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Message gets encrypted, sent to server, then to recipient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View message delivery (✓, ✓✓, ✓✓ blue)</a:t>
            </a:r>
          </a:p>
          <a:p>
            <a:pPr lvl="1"/>
            <a:r>
              <a:rPr lang="en-US" sz="2000" b="1" dirty="0"/>
              <a:t>c) Calling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Tap on call icon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Choose voice/video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System connects via VoIP protocol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End-to-end encrypted communication</a:t>
            </a:r>
          </a:p>
          <a:p>
            <a:pPr lvl="1" algn="just"/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2833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18420DA-2EC2-D0CC-0996-F2E0DB82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5A3308-0BFB-1207-E58E-E6C6D017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33725"/>
            <a:ext cx="10972800" cy="460951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Let’s Review &amp; 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B6E060-D215-205D-5AC1-1429A8A96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112510"/>
            <a:ext cx="11206065" cy="5378232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E81DAB0-00D1-3EAB-297F-6BDBD919FE6F}"/>
              </a:ext>
            </a:extLst>
          </p:cNvPr>
          <p:cNvSpPr txBox="1"/>
          <p:nvPr/>
        </p:nvSpPr>
        <p:spPr>
          <a:xfrm>
            <a:off x="567125" y="1397886"/>
            <a:ext cx="11222588" cy="3443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400" b="1" dirty="0"/>
              <a:t>Group Admin Workflow: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Create a group and name it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 members from contact list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Assign other admins (optional)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Control settings: allow all to send messages or only admins</a:t>
            </a:r>
          </a:p>
          <a:p>
            <a:pPr marL="1257300" lvl="2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Remove/add participants</a:t>
            </a:r>
          </a:p>
        </p:txBody>
      </p:sp>
    </p:spTree>
    <p:extLst>
      <p:ext uri="{BB962C8B-B14F-4D97-AF65-F5344CB8AC3E}">
        <p14:creationId xmlns="" xmlns:p14="http://schemas.microsoft.com/office/powerpoint/2010/main" val="145623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Use case diagram of </a:t>
            </a:r>
            <a:r>
              <a:rPr lang="en-IN" dirty="0" err="1" smtClean="0"/>
              <a:t>Spotify</a:t>
            </a: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9193" y="1292745"/>
            <a:ext cx="9623686" cy="5272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055F6B-8F0E-31D9-ECCD-82E3FF14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F77E72-0796-DA44-7573-06E51156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7163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Software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650366-8097-76AD-85FA-F5F0D28D6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B4F9F46-FF3A-C08E-93E6-0227683ED7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10967" t="43441" r="6129" b="43799"/>
          <a:stretch/>
        </p:blipFill>
        <p:spPr>
          <a:xfrm>
            <a:off x="0" y="2050627"/>
            <a:ext cx="12192000" cy="219013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4771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A905428-33CD-8123-D02A-A37770CE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C2BC7B-C4D9-DFB6-F325-21F0CADE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What is the use of STARUML?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79BC06-12A7-351B-E25D-15FBECD57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54B0252-9929-FE38-CF37-7794AEE8662B}"/>
              </a:ext>
            </a:extLst>
          </p:cNvPr>
          <p:cNvSpPr txBox="1"/>
          <p:nvPr/>
        </p:nvSpPr>
        <p:spPr>
          <a:xfrm>
            <a:off x="351454" y="1437535"/>
            <a:ext cx="11220060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StarUML is a software tool</a:t>
            </a:r>
            <a:r>
              <a:rPr lang="en-US" sz="2400" dirty="0"/>
              <a:t> used to </a:t>
            </a:r>
            <a:r>
              <a:rPr lang="en-US" sz="2400" dirty="0">
                <a:solidFill>
                  <a:srgbClr val="FF0000"/>
                </a:solidFill>
              </a:rPr>
              <a:t>create diagrams </a:t>
            </a:r>
            <a:r>
              <a:rPr lang="en-US" sz="2400" dirty="0"/>
              <a:t>that help in designing and understanding complex systems, especially in software development.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allows you to visually map out how different parts of a system or application will work together, making it easier to plan, communicate, and build the system effectively.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Think of it as a </a:t>
            </a:r>
            <a:r>
              <a:rPr lang="en-US" sz="2400" dirty="0">
                <a:solidFill>
                  <a:srgbClr val="FF0000"/>
                </a:solidFill>
              </a:rPr>
              <a:t>drawing tool for software engineers </a:t>
            </a:r>
            <a:r>
              <a:rPr lang="en-US" sz="2400" dirty="0"/>
              <a:t>to sketch out their ideas.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89085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STARUML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247260" y="933061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Search for StarUML in Google and Click on the official link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C4DD98D-8FDE-E9DF-6E27-7067FFA780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14558" r="5676" b="7347"/>
          <a:stretch/>
        </p:blipFill>
        <p:spPr>
          <a:xfrm>
            <a:off x="0" y="1912776"/>
            <a:ext cx="12192000" cy="49452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0535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STARUML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247260" y="933061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 this site </a:t>
            </a:r>
            <a:r>
              <a:rPr lang="en-US" sz="2400" dirty="0">
                <a:hlinkClick r:id="rId3"/>
              </a:rPr>
              <a:t>https://staruml.io/</a:t>
            </a:r>
            <a:r>
              <a:rPr lang="en-US" sz="2400" dirty="0"/>
              <a:t> and download StarUML for Windows/Mac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4B1FB6B-4192-02BA-A70C-6040E38B0C2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t="6258" r="5676" b="4762"/>
          <a:stretch/>
        </p:blipFill>
        <p:spPr>
          <a:xfrm>
            <a:off x="0" y="1649411"/>
            <a:ext cx="12192000" cy="520858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2395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STARUML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163285" y="419878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StarUML interface after installation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D9E322B-35BA-2D01-809B-05EF9F34B0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061" t="9660" r="18954"/>
          <a:stretch/>
        </p:blipFill>
        <p:spPr>
          <a:xfrm>
            <a:off x="0" y="1136228"/>
            <a:ext cx="12192000" cy="572177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9202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STARUML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163285" y="419878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StarUML interface after installation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B4B945C-D25A-55F5-82B7-43967BB09F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489"/>
          <a:stretch/>
        </p:blipFill>
        <p:spPr>
          <a:xfrm>
            <a:off x="0" y="1136228"/>
            <a:ext cx="12192000" cy="572177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9994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What is the use of GITBASH?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568389" y="776783"/>
            <a:ext cx="11220060" cy="608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Git Bash is an application that lets you use Git commands on your computer.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Git: </a:t>
            </a:r>
            <a:r>
              <a:rPr lang="en-US" sz="2200" dirty="0"/>
              <a:t>A tool for tracking changes in files, mainly used for managing code in software projects.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Bash: </a:t>
            </a:r>
            <a:r>
              <a:rPr lang="en-US" sz="2200" dirty="0"/>
              <a:t>A command-line tool that allows you to type in commands to perform various tasks on your computer.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Purpose: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Git Bash combines Git and Bash, so you can easily manage your code and use commands to work with files and projects. It’s like a smart helper for keeping track of changes and collaborating with others on coding projects.</a:t>
            </a:r>
            <a:endParaRPr lang="en-IN" sz="2200" dirty="0"/>
          </a:p>
        </p:txBody>
      </p:sp>
    </p:spTree>
    <p:extLst>
      <p:ext uri="{BB962C8B-B14F-4D97-AF65-F5344CB8AC3E}">
        <p14:creationId xmlns="" xmlns:p14="http://schemas.microsoft.com/office/powerpoint/2010/main" val="148799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247260" y="933061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Search for git bash in Google and Click on the official link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D60CDC2-DB41-AC07-D391-31199ABBAF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15918" r="5944" b="15102"/>
          <a:stretch/>
        </p:blipFill>
        <p:spPr>
          <a:xfrm>
            <a:off x="0" y="1985315"/>
            <a:ext cx="12224655" cy="487268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2678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8543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</a:t>
            </a:r>
            <a:r>
              <a:rPr lang="en-US" sz="4000" b="1" dirty="0" err="1">
                <a:solidFill>
                  <a:srgbClr val="FF0000"/>
                </a:solidFill>
              </a:rPr>
              <a:t>GitBash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27140" y="888091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Go this site </a:t>
            </a:r>
            <a:r>
              <a:rPr lang="en-US" sz="2400" dirty="0">
                <a:hlinkClick r:id="rId3"/>
              </a:rPr>
              <a:t>https://git-scm.com/downloads</a:t>
            </a:r>
            <a:r>
              <a:rPr lang="en-US" sz="2400" dirty="0"/>
              <a:t> and download Git for Windows/Mac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B2CA841-02D7-AA71-6CBA-BFE583639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t="5443" r="4324" b="4353"/>
          <a:stretch/>
        </p:blipFill>
        <p:spPr>
          <a:xfrm>
            <a:off x="1" y="1791476"/>
            <a:ext cx="12157022" cy="506652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7858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541175" y="419878"/>
            <a:ext cx="10962089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        Git Bash interface after installation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19220C7-A4FB-33D7-1B84-C8F7D2C25E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062" t="9796" r="17959" b="-1769"/>
          <a:stretch/>
        </p:blipFill>
        <p:spPr>
          <a:xfrm>
            <a:off x="931329" y="1289154"/>
            <a:ext cx="10835952" cy="55688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6032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163285" y="419878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GitBash</a:t>
            </a:r>
            <a:r>
              <a:rPr lang="en-US" sz="2400" dirty="0"/>
              <a:t> interface after installation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0397BDC-1BBD-DA5D-91D6-E276F27D5F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21225"/>
          <a:stretch/>
        </p:blipFill>
        <p:spPr>
          <a:xfrm>
            <a:off x="0" y="1477412"/>
            <a:ext cx="12192000" cy="53805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5354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7157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What is the use of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527181" y="1530220"/>
            <a:ext cx="11220060" cy="417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GitHub is a </a:t>
            </a:r>
            <a:r>
              <a:rPr lang="en-US" sz="2200" dirty="0">
                <a:solidFill>
                  <a:srgbClr val="FF0000"/>
                </a:solidFill>
              </a:rPr>
              <a:t>website</a:t>
            </a:r>
            <a:r>
              <a:rPr lang="en-US" sz="2200" dirty="0"/>
              <a:t> where people can </a:t>
            </a:r>
            <a:r>
              <a:rPr lang="en-US" sz="2200" dirty="0">
                <a:solidFill>
                  <a:srgbClr val="FF0000"/>
                </a:solidFill>
              </a:rPr>
              <a:t>store and share their computer code</a:t>
            </a:r>
            <a:r>
              <a:rPr lang="en-US" sz="2200" dirty="0"/>
              <a:t>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It's like a big, online folder where you can keep your work, make changes, and collaborate with others.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Think of it as a place where you and your team can work on a project together, track changes, and keep everything organized.</a:t>
            </a:r>
            <a:endParaRPr lang="en-IN" sz="2200" dirty="0"/>
          </a:p>
        </p:txBody>
      </p:sp>
    </p:spTree>
    <p:extLst>
      <p:ext uri="{BB962C8B-B14F-4D97-AF65-F5344CB8AC3E}">
        <p14:creationId xmlns="" xmlns:p14="http://schemas.microsoft.com/office/powerpoint/2010/main" val="321591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create an account in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771918" y="933061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Search for </a:t>
            </a:r>
            <a:r>
              <a:rPr lang="en-US" sz="2400" dirty="0" err="1"/>
              <a:t>github</a:t>
            </a:r>
            <a:r>
              <a:rPr lang="en-US" sz="2400" dirty="0"/>
              <a:t> in Google and Click on the official link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9D81C3A-4483-720D-E836-CDF20CB4CD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15374" r="5676" b="4898"/>
          <a:stretch/>
        </p:blipFill>
        <p:spPr>
          <a:xfrm>
            <a:off x="0" y="1791476"/>
            <a:ext cx="12192000" cy="50665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412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create an account in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27140" y="933061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Go this site </a:t>
            </a:r>
            <a:r>
              <a:rPr lang="en-US" sz="2400" dirty="0">
                <a:hlinkClick r:id="rId3"/>
              </a:rPr>
              <a:t>https://github.com/</a:t>
            </a:r>
            <a:r>
              <a:rPr lang="en-US" sz="2400" dirty="0"/>
              <a:t> and click on Sign Up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673F3EA-EDA7-3EDF-2725-56107D607A0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l="1" t="5170" r="1045" b="5034"/>
          <a:stretch/>
        </p:blipFill>
        <p:spPr>
          <a:xfrm>
            <a:off x="0" y="1940344"/>
            <a:ext cx="12192000" cy="487268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093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530346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create an account in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530692" y="711455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Follow the steps of Signup to create an account in GitHub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50C27C6-E1A7-472A-9735-E2566AA650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5442" r="2028" b="4626"/>
          <a:stretch/>
        </p:blipFill>
        <p:spPr>
          <a:xfrm>
            <a:off x="0" y="1663908"/>
            <a:ext cx="12192000" cy="51940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390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7163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How to create an account in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935431" y="726445"/>
            <a:ext cx="11220060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The GitHub dashboard after account creation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F28F549-5277-C0E0-F494-6B71E63DF3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6258" r="2041" b="11837"/>
          <a:stretch/>
        </p:blipFill>
        <p:spPr>
          <a:xfrm>
            <a:off x="0" y="1693888"/>
            <a:ext cx="12192000" cy="516411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2748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1397</Words>
  <Application>Microsoft Office PowerPoint</Application>
  <PresentationFormat>Custom</PresentationFormat>
  <Paragraphs>312</Paragraphs>
  <Slides>38</Slides>
  <Notes>35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1_Office Theme</vt:lpstr>
      <vt:lpstr>2_Office Theme</vt:lpstr>
      <vt:lpstr>(23CC505PC)   SOFTWARE ENGINEERING</vt:lpstr>
      <vt:lpstr>Slide 2</vt:lpstr>
      <vt:lpstr>SRS Document – A Practical Guide</vt:lpstr>
      <vt:lpstr>Structure of an SRS Document</vt:lpstr>
      <vt:lpstr>Abstract</vt:lpstr>
      <vt:lpstr>Example (Spotify-like App)</vt:lpstr>
      <vt:lpstr>Hands-On  -  Activity Time</vt:lpstr>
      <vt:lpstr>Let’s Review &amp; Reflect</vt:lpstr>
      <vt:lpstr>Identifying Functional Requirements (FR)</vt:lpstr>
      <vt:lpstr>Hands-On  -  Activity Time</vt:lpstr>
      <vt:lpstr>Let’s Review &amp; Reflect</vt:lpstr>
      <vt:lpstr>Identifying Non-Functional Requirements (NFR)</vt:lpstr>
      <vt:lpstr>Hands-On  -  Activity Time</vt:lpstr>
      <vt:lpstr>Let’s Review &amp; Reflect</vt:lpstr>
      <vt:lpstr>User s of Spotify</vt:lpstr>
      <vt:lpstr>Hands-On  -  Activity Time</vt:lpstr>
      <vt:lpstr>Let’s Review &amp; Reflect</vt:lpstr>
      <vt:lpstr>Workflow of Each User</vt:lpstr>
      <vt:lpstr>Hands-On  -  Activity Time</vt:lpstr>
      <vt:lpstr>Let’s Review &amp; Reflect</vt:lpstr>
      <vt:lpstr>Let’s Review &amp; Reflect</vt:lpstr>
      <vt:lpstr>Use case diagram of Spotify</vt:lpstr>
      <vt:lpstr>Software Installation</vt:lpstr>
      <vt:lpstr>What is the use of STARUML?</vt:lpstr>
      <vt:lpstr>How to install STARUML</vt:lpstr>
      <vt:lpstr>How to install STARUML</vt:lpstr>
      <vt:lpstr>How to install STARUML</vt:lpstr>
      <vt:lpstr>How to install STARUML</vt:lpstr>
      <vt:lpstr>What is the use of GITBASH?</vt:lpstr>
      <vt:lpstr>How to install Git</vt:lpstr>
      <vt:lpstr>How to install GitBash</vt:lpstr>
      <vt:lpstr>How to install Git</vt:lpstr>
      <vt:lpstr>How to install Git</vt:lpstr>
      <vt:lpstr>What is the use of GitHub?</vt:lpstr>
      <vt:lpstr>How to create an account in GitHub?</vt:lpstr>
      <vt:lpstr>How to create an account in GitHub?</vt:lpstr>
      <vt:lpstr>How to create an account in GitHub?</vt:lpstr>
      <vt:lpstr>How to create an account in GitHub?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(21DM601PC)    COMPUTER NETWORKS</dc:title>
  <dc:creator>Arshiya Begum</dc:creator>
  <cp:lastModifiedBy>User</cp:lastModifiedBy>
  <cp:revision>59</cp:revision>
  <dcterms:created xsi:type="dcterms:W3CDTF">2024-05-06T05:52:36Z</dcterms:created>
  <dcterms:modified xsi:type="dcterms:W3CDTF">2025-07-19T10:54:45Z</dcterms:modified>
</cp:coreProperties>
</file>